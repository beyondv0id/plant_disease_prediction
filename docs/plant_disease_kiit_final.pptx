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65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3D043E-B1DD-46E2-AB57-785618FF6B26}" v="5" dt="2026-03-17T04:31:08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 Gandepalli" userId="fab27ed95fe89c9b" providerId="LiveId" clId="{105052F3-47D0-4E84-9E44-CB4C0E6AFDA2}"/>
    <pc:docChg chg="undo custSel modSld">
      <pc:chgData name="Harsha Vardhan Gandepalli" userId="fab27ed95fe89c9b" providerId="LiveId" clId="{105052F3-47D0-4E84-9E44-CB4C0E6AFDA2}" dt="2026-03-17T04:36:03.174" v="63" actId="20577"/>
      <pc:docMkLst>
        <pc:docMk/>
      </pc:docMkLst>
      <pc:sldChg chg="addSp delSp modSp mod">
        <pc:chgData name="Harsha Vardhan Gandepalli" userId="fab27ed95fe89c9b" providerId="LiveId" clId="{105052F3-47D0-4E84-9E44-CB4C0E6AFDA2}" dt="2026-03-17T04:34:19.575" v="55" actId="732"/>
        <pc:sldMkLst>
          <pc:docMk/>
          <pc:sldMk cId="0" sldId="256"/>
        </pc:sldMkLst>
        <pc:spChg chg="del">
          <ac:chgData name="Harsha Vardhan Gandepalli" userId="fab27ed95fe89c9b" providerId="LiveId" clId="{105052F3-47D0-4E84-9E44-CB4C0E6AFDA2}" dt="2026-03-17T03:33:21.760" v="0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Harsha Vardhan Gandepalli" userId="fab27ed95fe89c9b" providerId="LiveId" clId="{105052F3-47D0-4E84-9E44-CB4C0E6AFDA2}" dt="2026-03-17T03:33:29.625" v="2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Harsha Vardhan Gandepalli" userId="fab27ed95fe89c9b" providerId="LiveId" clId="{105052F3-47D0-4E84-9E44-CB4C0E6AFDA2}" dt="2026-03-17T03:33:45.100" v="8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Harsha Vardhan Gandepalli" userId="fab27ed95fe89c9b" providerId="LiveId" clId="{105052F3-47D0-4E84-9E44-CB4C0E6AFDA2}" dt="2026-03-17T03:33:35.759" v="5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Harsha Vardhan Gandepalli" userId="fab27ed95fe89c9b" providerId="LiveId" clId="{105052F3-47D0-4E84-9E44-CB4C0E6AFDA2}" dt="2026-03-17T03:33:34.131" v="4" actId="478"/>
          <ac:spMkLst>
            <pc:docMk/>
            <pc:sldMk cId="0" sldId="256"/>
            <ac:spMk id="9" creationId="{00000000-0000-0000-0000-000000000000}"/>
          </ac:spMkLst>
        </pc:spChg>
        <pc:spChg chg="mod">
          <ac:chgData name="Harsha Vardhan Gandepalli" userId="fab27ed95fe89c9b" providerId="LiveId" clId="{105052F3-47D0-4E84-9E44-CB4C0E6AFDA2}" dt="2026-03-17T04:30:14.844" v="26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Harsha Vardhan Gandepalli" userId="fab27ed95fe89c9b" providerId="LiveId" clId="{105052F3-47D0-4E84-9E44-CB4C0E6AFDA2}" dt="2026-03-17T04:31:11.418" v="36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Harsha Vardhan Gandepalli" userId="fab27ed95fe89c9b" providerId="LiveId" clId="{105052F3-47D0-4E84-9E44-CB4C0E6AFDA2}" dt="2026-03-17T04:29:24.576" v="24" actId="20577"/>
          <ac:spMkLst>
            <pc:docMk/>
            <pc:sldMk cId="0" sldId="256"/>
            <ac:spMk id="15" creationId="{00000000-0000-0000-0000-000000000000}"/>
          </ac:spMkLst>
        </pc:spChg>
        <pc:picChg chg="add del mod">
          <ac:chgData name="Harsha Vardhan Gandepalli" userId="fab27ed95fe89c9b" providerId="LiveId" clId="{105052F3-47D0-4E84-9E44-CB4C0E6AFDA2}" dt="2026-03-17T04:33:29.310" v="37" actId="478"/>
          <ac:picMkLst>
            <pc:docMk/>
            <pc:sldMk cId="0" sldId="256"/>
            <ac:picMk id="18" creationId="{2D66D1AD-6DF3-4AB9-9864-18E3F9BEBC46}"/>
          </ac:picMkLst>
        </pc:picChg>
        <pc:picChg chg="add mod modCrop">
          <ac:chgData name="Harsha Vardhan Gandepalli" userId="fab27ed95fe89c9b" providerId="LiveId" clId="{105052F3-47D0-4E84-9E44-CB4C0E6AFDA2}" dt="2026-03-17T04:34:19.575" v="55" actId="732"/>
          <ac:picMkLst>
            <pc:docMk/>
            <pc:sldMk cId="0" sldId="256"/>
            <ac:picMk id="20" creationId="{A74EED70-93B5-9D35-C57E-37E20BFA107C}"/>
          </ac:picMkLst>
        </pc:picChg>
      </pc:sldChg>
      <pc:sldChg chg="addSp delSp modSp mod">
        <pc:chgData name="Harsha Vardhan Gandepalli" userId="fab27ed95fe89c9b" providerId="LiveId" clId="{105052F3-47D0-4E84-9E44-CB4C0E6AFDA2}" dt="2026-03-17T04:36:03.174" v="63" actId="20577"/>
        <pc:sldMkLst>
          <pc:docMk/>
          <pc:sldMk cId="0" sldId="267"/>
        </pc:sldMkLst>
        <pc:spChg chg="add del">
          <ac:chgData name="Harsha Vardhan Gandepalli" userId="fab27ed95fe89c9b" providerId="LiveId" clId="{105052F3-47D0-4E84-9E44-CB4C0E6AFDA2}" dt="2026-03-17T03:35:04.499" v="13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Harsha Vardhan Gandepalli" userId="fab27ed95fe89c9b" providerId="LiveId" clId="{105052F3-47D0-4E84-9E44-CB4C0E6AFDA2}" dt="2026-03-17T03:34:58.759" v="10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Harsha Vardhan Gandepalli" userId="fab27ed95fe89c9b" providerId="LiveId" clId="{105052F3-47D0-4E84-9E44-CB4C0E6AFDA2}" dt="2026-03-17T03:35:06.599" v="14" actId="478"/>
          <ac:spMkLst>
            <pc:docMk/>
            <pc:sldMk cId="0" sldId="267"/>
            <ac:spMk id="8" creationId="{00000000-0000-0000-0000-000000000000}"/>
          </ac:spMkLst>
        </pc:spChg>
        <pc:spChg chg="mod">
          <ac:chgData name="Harsha Vardhan Gandepalli" userId="fab27ed95fe89c9b" providerId="LiveId" clId="{105052F3-47D0-4E84-9E44-CB4C0E6AFDA2}" dt="2026-03-17T03:35:00.843" v="11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Harsha Vardhan Gandepalli" userId="fab27ed95fe89c9b" providerId="LiveId" clId="{105052F3-47D0-4E84-9E44-CB4C0E6AFDA2}" dt="2026-03-17T04:36:03.174" v="63" actId="20577"/>
          <ac:spMkLst>
            <pc:docMk/>
            <pc:sldMk cId="0" sldId="267"/>
            <ac:spMk id="10" creationId="{00000000-0000-0000-0000-000000000000}"/>
          </ac:spMkLst>
        </pc:spChg>
        <pc:picChg chg="add mod">
          <ac:chgData name="Harsha Vardhan Gandepalli" userId="fab27ed95fe89c9b" providerId="LiveId" clId="{105052F3-47D0-4E84-9E44-CB4C0E6AFDA2}" dt="2026-03-17T03:35:22.584" v="21" actId="1076"/>
          <ac:picMkLst>
            <pc:docMk/>
            <pc:sldMk cId="0" sldId="267"/>
            <ac:picMk id="12" creationId="{3FC6E178-09EC-1D07-FA32-8027AE9B855C}"/>
          </ac:picMkLst>
        </pc:picChg>
        <pc:picChg chg="add mod">
          <ac:chgData name="Harsha Vardhan Gandepalli" userId="fab27ed95fe89c9b" providerId="LiveId" clId="{105052F3-47D0-4E84-9E44-CB4C0E6AFDA2}" dt="2026-03-17T03:35:18.240" v="19" actId="571"/>
          <ac:picMkLst>
            <pc:docMk/>
            <pc:sldMk cId="0" sldId="267"/>
            <ac:picMk id="13" creationId="{9FDCBA8D-9219-E5B3-CDD4-4F16D2AB4B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393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0" y="1691640"/>
            <a:ext cx="457200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 PREDICTION USING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P.Sree</a:t>
            </a:r>
            <a:r>
              <a:rPr lang="en-US" sz="15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Harshitha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3246120"/>
            <a:ext cx="9144000" cy="18973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65760" y="331012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– P.SREE HARSHITHA (2306341)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(KALINGA INSTITUTE OF INDUSTRIAL TECHNOLOGY)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2976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1280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- 2026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4EED70-93B5-9D35-C57E-37E20BFA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6" t="383" r="1615" b="-383"/>
          <a:stretch>
            <a:fillRect/>
          </a:stretch>
        </p:blipFill>
        <p:spPr>
          <a:xfrm>
            <a:off x="2475411" y="417593"/>
            <a:ext cx="4199709" cy="11947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840480" cy="45720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384048" cy="45720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822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38988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384048" cy="45720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13898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389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56816"/>
            <a:ext cx="3840480" cy="45720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1956816"/>
            <a:ext cx="384048" cy="45720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19568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1956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523744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2523744"/>
            <a:ext cx="384048" cy="45720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5237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5237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3840480" cy="45720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3090672"/>
            <a:ext cx="384048" cy="45720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30906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0906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822960"/>
            <a:ext cx="3840480" cy="45720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822960"/>
            <a:ext cx="384048" cy="457200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822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822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138988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46320" y="1389888"/>
            <a:ext cx="384048" cy="457200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0" y="13898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1389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1956816"/>
            <a:ext cx="3840480" cy="45720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46320" y="1956816"/>
            <a:ext cx="384048" cy="457200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46320" y="19568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1956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46320" y="2523744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846320" y="2523744"/>
            <a:ext cx="384048" cy="457200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46320" y="25237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25237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4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F8D0410E-9B6E-D9AC-1D23-3040DE56A97C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are one of the major threats to global food security, causing 20–40% of annual crop losses worldwide.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disease detection depends on visual inspection by farmers or experts — by the time symptoms are visible, significant damage has already occurred.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Biosensors and IoT devices can continuously monitor environmental and soil conditions such as temperature, humidity, soil moisture, pH, and nutrient levels.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can analyze these sensor readings to identify stress patterns before any visible symptoms appear on the plant.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early warning system using Random Forest and SVM classifiers trained on biosensor data to predict plant health status.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classifies plant health into three categories: Healthy, Moderate Stress, and High Stress.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05172"/>
            <a:ext cx="9144000" cy="3383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0960ED86-9FCB-1BE7-10C2-9BDCA325ABF1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1920240" cy="548640"/>
          </a:xfrm>
          <a:prstGeom prst="rect">
            <a:avLst/>
          </a:prstGeom>
          <a:solidFill>
            <a:srgbClr val="5A1A35"/>
          </a:solidFill>
          <a:ln w="12700">
            <a:solidFill>
              <a:srgbClr val="5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804672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et al. (2016)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850392"/>
            <a:ext cx="6309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deep learning (CNN) on PlantVillage dataset with 54,000 leaf images — achieved 99.35% accuracy but requires high-quality cameras and significant compute, making it impractical for field deployment.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426464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1426464"/>
            <a:ext cx="1920240" cy="548640"/>
          </a:xfrm>
          <a:prstGeom prst="rect">
            <a:avLst/>
          </a:prstGeom>
          <a:solidFill>
            <a:srgbClr val="5A1A35"/>
          </a:solidFill>
          <a:ln w="12700">
            <a:solidFill>
              <a:srgbClr val="5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Ferentinos (2018)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472184"/>
            <a:ext cx="6309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CNN models for plant disease recognition via images — effective but limited to visible symptoms. Cannot provide pre-symptomatic warnings.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48256"/>
            <a:ext cx="8412480" cy="54864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048256"/>
            <a:ext cx="1920240" cy="548640"/>
          </a:xfrm>
          <a:prstGeom prst="rect">
            <a:avLst/>
          </a:prstGeom>
          <a:solidFill>
            <a:srgbClr val="5A1A35"/>
          </a:solidFill>
          <a:ln w="12700">
            <a:solidFill>
              <a:srgbClr val="5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Pantazi et al. (2019)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2093976"/>
            <a:ext cx="6309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supervised machine learning using soil and crop sensor data for disease detection. Random Forest showed strong performance on structured tabular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7004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2670048"/>
            <a:ext cx="1920240" cy="548640"/>
          </a:xfrm>
          <a:prstGeom prst="rect">
            <a:avLst/>
          </a:prstGeom>
          <a:solidFill>
            <a:srgbClr val="5A1A35"/>
          </a:solidFill>
          <a:ln w="12700">
            <a:solidFill>
              <a:srgbClr val="5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2670048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et al. (2021)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715768"/>
            <a:ext cx="6309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SVM and Random Forest on environmental parameter datasets — both achieved &gt;90% accuracy; RF outperformed SVM in multi-class scenarios.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8412480" cy="54864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1920240" cy="5486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337560"/>
            <a:ext cx="63093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image-based approaches, this work uses biosensor and soil data (tabular/structured) with Random Forest and SVM — enabling automated, real-time, pre-symptomatic disease prediction.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786884"/>
            <a:ext cx="9144000" cy="356616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CBE5872D-043E-D84B-18D3-86DBE99CDCF4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 / PROBLEM DESCRIPTION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continuous biosensor and soil readings from plants, predict the plant health status (Healthy / Moderate Stress / High Stress) before visible disease symptoms appear.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3840480" cy="155448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3840480" cy="347472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11 Sensor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Soil Moisture, Ambient &amp; Soil Temperature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Humidity, Light Intensity, Soil pH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Nitrogen, Phosphorus, Potassium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Chlorophyll Content, Electrochemical Signal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5196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0A25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937760" y="2084832"/>
            <a:ext cx="3840480" cy="155448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937760" y="2084832"/>
            <a:ext cx="3840480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83480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Health Status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4871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Healthy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8529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Moderate Stress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32186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Stress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FD949462-9B29-4DAC-F664-4E0CA3785102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54864" cy="5486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8412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Pre-Symptomatic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image-based models that detect disease after visual symptoms appear, this system predicts risk from sensor data before any symptoms are visible — enabling true early warning.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444752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1444752"/>
            <a:ext cx="54864" cy="5486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1481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Required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7190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plant disease solutions require leaf photographs and CNN models. This approach uses only numerical sensor readings — deployable on low-cost IoT devices without cameras.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084832"/>
            <a:ext cx="8412480" cy="54864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54864" cy="5486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121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Biosensor-Driven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35915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Electrochemical Signal (mV) and Chlorophyll Content (mg/m²) as predictive features — rarely used in conventional plant disease ML models.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2724912"/>
            <a:ext cx="54864" cy="5486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2761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Model Comparison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9992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trains and compares Random Forest and SVM on the same biosensor dataset, providing a rigorous model selection process rather than using a single algorithm.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8412480" cy="548640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54864" cy="5486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401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63931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saved as a .pkl file and can be integrated into Flask/FastAPI web services or IoT edge devices for real-time field predictions.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8070B610-76DB-8AB7-71DF-D80A74A4CD65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548640" cy="8686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8778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1887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Biosensor data collected from 10 plants every 6 hours over ~1 month (~1,700+ rows)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548640" cy="8686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80467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8778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1887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Timestamp &amp; Plant_ID | Handle missing values | Label Encoding | StandardScaler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810512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1810512"/>
            <a:ext cx="548640" cy="868680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181051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1883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194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| Class distribution | Boxplots | Feature distribution plots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810512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1810512"/>
            <a:ext cx="548640" cy="868680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81051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1883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194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(n=100, GridSearchCV) | SVM (kernel=rbf, C=1.0, gamma=scale)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816352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0040" y="2816352"/>
            <a:ext cx="548640" cy="868680"/>
          </a:xfrm>
          <a:prstGeom prst="rect">
            <a:avLst/>
          </a:prstGeom>
          <a:solidFill>
            <a:srgbClr val="5A1A35"/>
          </a:solidFill>
          <a:ln w="12700">
            <a:solidFill>
              <a:srgbClr val="5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" y="281635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28895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3200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| Precision | Recall | F1-Score | Confusion Matrix | Cross-Validation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816352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2816352"/>
            <a:ext cx="548640" cy="868680"/>
          </a:xfrm>
          <a:prstGeom prst="rect">
            <a:avLst/>
          </a:prstGeom>
          <a:solidFill>
            <a:srgbClr val="5A1A35"/>
          </a:solidFill>
          <a:ln w="12700">
            <a:solidFill>
              <a:srgbClr val="5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281635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28895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3200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saved .pkl model | Scale new input | Predict: Healthy / Moderate / High Stress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05172"/>
            <a:ext cx="9144000" cy="3383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6E65056A-F126-7104-E73C-B97FB475D372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 / BENCHMARK / SIMULATION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1920240" cy="7772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~1,700+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804672"/>
            <a:ext cx="1920240" cy="7772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1920240" cy="7772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804672"/>
            <a:ext cx="1920240" cy="7772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7512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1719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029968"/>
            <a:ext cx="2697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0299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Soil Moisture (%)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029968"/>
            <a:ext cx="2697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46120" y="20299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Ambient Temperature (°C)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029968"/>
            <a:ext cx="2697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35040" y="20299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Soil Temperature (°C)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414016"/>
            <a:ext cx="2697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24140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Humidity (%)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414016"/>
            <a:ext cx="2697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46120" y="24140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 Intensity (Lux)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414016"/>
            <a:ext cx="2697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35040" y="24140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Soil pH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798064"/>
            <a:ext cx="2697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" y="27980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Nitrogen (mg/kg)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54680" y="2798064"/>
            <a:ext cx="2697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46120" y="27980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Phosphorus (mg/kg)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2798064"/>
            <a:ext cx="2697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035040" y="27980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Potassium (mg/kg)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182112"/>
            <a:ext cx="2697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7200" y="31821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Chlorophyll Content (mg/m²)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3182112"/>
            <a:ext cx="2697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46120" y="31821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Electrochemical Signal (mV)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36210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Label: Plant_Health_Status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895344"/>
            <a:ext cx="2697480" cy="292608"/>
          </a:xfrm>
          <a:prstGeom prst="rect">
            <a:avLst/>
          </a:prstGeom>
          <a:solidFill>
            <a:srgbClr val="2E8B1A"/>
          </a:solidFill>
          <a:ln w="12700">
            <a:solidFill>
              <a:srgbClr val="2E8B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65760" y="38953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54680" y="3895344"/>
            <a:ext cx="2697480" cy="292608"/>
          </a:xfrm>
          <a:prstGeom prst="rect">
            <a:avLst/>
          </a:prstGeom>
          <a:solidFill>
            <a:srgbClr val="C87800"/>
          </a:solidFill>
          <a:ln w="12700">
            <a:solidFill>
              <a:srgbClr val="C87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154680" y="38953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Stress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43600" y="3895344"/>
            <a:ext cx="26974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943600" y="38953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416552"/>
            <a:ext cx="9144000" cy="72694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65760" y="4297680"/>
            <a:ext cx="84124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Python 3.8+ | Scikit-learn | Pandas | NumPy | Matplotlib | Seaborn | Jupyter Notebook | Joblib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24140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0A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B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520440"/>
            <a:ext cx="8412480" cy="32004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7"/>
          <p:cNvSpPr/>
          <p:nvPr/>
        </p:nvSpPr>
        <p:spPr>
          <a:xfrm>
            <a:off x="457200" y="3520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 — higher accuracy, interpretable, provides feature importance scores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3886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Chlorophyll Content and Electrochemical Signal are the strongest predictors of plant stress.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809612"/>
            <a:ext cx="9144000" cy="3338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C31D8EBB-7110-D0FC-B758-16160F357D55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— RF + SVM STACKING ENSEMBLE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Combining RF + SVM into one superior model via Stacking — achieves ~98% confidence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554480"/>
            <a:ext cx="1298448" cy="68580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Biosensor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0A25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64208" y="1554480"/>
            <a:ext cx="1298448" cy="6858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64208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62656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0A25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63824" y="1554480"/>
            <a:ext cx="1298448" cy="68580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63824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(RF)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62272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0A25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1298448" cy="685800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 Kernel)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61888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0A25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63056" y="1554480"/>
            <a:ext cx="1298448" cy="685800"/>
          </a:xfrm>
          <a:prstGeom prst="rect">
            <a:avLst/>
          </a:prstGeom>
          <a:solidFill>
            <a:srgbClr val="5A1A35"/>
          </a:solidFill>
          <a:ln w="12700">
            <a:solidFill>
              <a:srgbClr val="5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63056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61504" y="1554480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0A25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62672" y="1554480"/>
            <a:ext cx="1298448" cy="685800"/>
          </a:xfrm>
          <a:prstGeom prst="rect">
            <a:avLst/>
          </a:prstGeom>
          <a:solidFill>
            <a:srgbClr val="2E8B1A"/>
          </a:solidFill>
          <a:ln w="12700">
            <a:solidFill>
              <a:srgbClr val="2E8B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62672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2377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Hybrid Approaches Implemented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706624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74320" y="2706624"/>
            <a:ext cx="54864" cy="5669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20624" y="2752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Voting Classifier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0624" y="30175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RF and SVM cast soft votes. Class with highest combined probability wins. Uses VotingClassifier(voting='soft').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364992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74320" y="3364992"/>
            <a:ext cx="54864" cy="5669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20624" y="34107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Stacking Classifier (Best)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0624" y="36758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SVM predictions fed into Logistic Regression meta-learner. 5-fold CV prevents data leakage. Best accuracy: ~98%.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023360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74320" y="4023360"/>
            <a:ext cx="54864" cy="566928"/>
          </a:xfrm>
          <a:prstGeom prst="rect">
            <a:avLst/>
          </a:prstGeom>
          <a:solidFill>
            <a:srgbClr val="5A1A35"/>
          </a:solidFill>
          <a:ln w="12700">
            <a:solidFill>
              <a:srgbClr val="5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20624" y="4069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Weighted Probability Avg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20624" y="433425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given 60% weight, SVM given 40% weight. Final class = argmax of weighted combined probability vector.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— RESULTS &amp; COMPARISON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Model Comparison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018511"/>
              </p:ext>
            </p:extLst>
          </p:nvPr>
        </p:nvGraphicFramePr>
        <p:xfrm>
          <a:off x="274320" y="1097280"/>
          <a:ext cx="859536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0A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B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Stacking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~98%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(via RF)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511296"/>
            <a:ext cx="8595360" cy="32918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351129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 Model: Hybrid Stacking — ~98% confidence, outperforms both RF and SVM individually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" y="391363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Prediction Confidence on New Sensor Readings: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4206240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74320" y="4206240"/>
            <a:ext cx="54864" cy="475488"/>
          </a:xfrm>
          <a:prstGeom prst="rect">
            <a:avLst/>
          </a:prstGeom>
          <a:solidFill>
            <a:srgbClr val="2E8B1A"/>
          </a:solidFill>
          <a:ln w="12700">
            <a:solidFill>
              <a:srgbClr val="2E8B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02336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Sample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2336" y="4425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60%, Humidity 45%, Chlorophyll 38 mg/m²  →  99.24% confidence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17720" y="4206240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617720" y="4206240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745736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Stress Sample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45736" y="4425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15%, Humidity 88%, Chlorophyll 12 mg/m²  →  98.85% confidence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 SCORE — PROJECT NOVELTY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F5EEF2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severity score (0–100) derived from model probability outputs — goes beyond class labels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8595360" cy="621792"/>
          </a:xfrm>
          <a:prstGeom prst="rect">
            <a:avLst/>
          </a:prstGeom>
          <a:solidFill>
            <a:srgbClr val="F0EBF4"/>
          </a:solidFill>
          <a:ln w="6350">
            <a:solidFill>
              <a:srgbClr val="DDD0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 =  ( P(Moderate Stress) × 50 )  +  ( P(High Stress) × 100 )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2057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2057400" cy="329184"/>
          </a:xfrm>
          <a:prstGeom prst="rect">
            <a:avLst/>
          </a:prstGeom>
          <a:solidFill>
            <a:srgbClr val="2E8B1A"/>
          </a:solidFill>
          <a:ln w="12700">
            <a:solidFill>
              <a:srgbClr val="2E8B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29443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3101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50592" y="2578608"/>
            <a:ext cx="2057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450592" y="2578608"/>
            <a:ext cx="2057400" cy="32918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450592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– 60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50592" y="29443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MONITOR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50592" y="33101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578608"/>
            <a:ext cx="2057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26864" y="2578608"/>
            <a:ext cx="2057400" cy="329184"/>
          </a:xfrm>
          <a:prstGeom prst="rect">
            <a:avLst/>
          </a:prstGeom>
          <a:solidFill>
            <a:srgbClr val="C87800"/>
          </a:solidFill>
          <a:ln w="12700">
            <a:solidFill>
              <a:srgbClr val="C87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26864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– 80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26864" y="29443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WARNING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26864" y="33101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treatment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2578608"/>
            <a:ext cx="2057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803136" y="2578608"/>
            <a:ext cx="20574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03136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– 100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03136" y="29443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03136" y="33101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84048" y="91440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225296"/>
            <a:ext cx="3941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more plant species, crop types, and geographic regions for better model generalization across different climates and soil types.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1715" y="914400"/>
            <a:ext cx="3918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(LSTM)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1715" y="1225296"/>
            <a:ext cx="39182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LSTM or Transformer models on time-series sensor sequences to capture temporal stress patterns before static classifiers can detect them.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221284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IoT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523744"/>
            <a:ext cx="3941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farmer-facing mobile application with real-time alerts integrated with IoT biosensors deployed directly in the agricultural field.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2140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1715" y="2212848"/>
            <a:ext cx="3918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Deployment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1715" y="2523744"/>
            <a:ext cx="39182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Raspberry Pi with physical soil and humidity sensors for live field monitoring — bridge from Jupyter Notebook to real device.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19856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351129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Identification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822192"/>
            <a:ext cx="3941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3-class stress prediction to specific disease type identification — fungal, bacterial, or viral — for targeted treatment guidance.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3419856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4841715" y="3511296"/>
            <a:ext cx="3918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Multi-Crop Support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1715" y="3822192"/>
            <a:ext cx="39182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and validate models on wheat, rice, maize, and soybean datasets with crop-specific thresholds for broader agricultural applicability.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an end-to-end machine learning pipeline to predict plant health status from biosensor and soil data.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~96% accuracy and outperformed SVM, making it the preferred model for this classification task.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 identified: Chlorophyll Content, Electrochemical Signal, Soil Moisture, and Humidity.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enables pre-symptomatic disease detection — providing early warnings before visible damage occurs on plants.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is scalable, low-cost, and deployable in real-world smart farming environments using IoT sensor infrastructure.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includes expanding the dataset to more crops, integrating LSTM for time-series analysis, and deploying via mobile/IoT apps.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12115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0" name="Shape 29">
            <a:extLst>
              <a:ext uri="{FF2B5EF4-FFF2-40B4-BE49-F238E27FC236}">
                <a16:creationId xmlns:a16="http://schemas.microsoft.com/office/drawing/2014/main" id="{BBE67434-A575-67F3-A9F0-8E95E9EF32F7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F59D64FC-415D-10D8-C5CA-D3AB78E97561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828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Mohanty, S. P., Hughes, D. P., &amp; Salathé, M. (2016). Using Deep Learning for Image-Based Plant Disease Detection. Frontiers in Plant Science, 7, 1419.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11887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Ferentinos, K. P. (2018). Deep Learning Models for Plant Disease Detection and Diagnosis. Computers and Electronics in Agriculture, 145, 311–318.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8412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" y="15727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Pantazi, X. E., et al. (2019). Automated Leaf Disease Detection Using Machine Learning. Computers and Electronics in Agriculture, 157, 30–38.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19568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Ahmed, K., et al. (2021). Machine Learning Approaches for Plant Disease Detection Using Environmental Parameters. IEEE Access, 9, 112–126.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40864"/>
            <a:ext cx="8412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" y="2340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Breiman, L. (2001). Random Forests. Machine Learning, 45(1), 5–32.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" y="27249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Cortes, C. &amp; Vapnik, V. (1995). Support-Vector Networks. Machine Learning, 20, 273–297.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8412480" cy="329184"/>
          </a:xfrm>
          <a:prstGeom prst="rect">
            <a:avLst/>
          </a:prstGeom>
          <a:solidFill>
            <a:srgbClr val="F5EEF2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" y="3108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Scikit-learn: Machine Learning in Python — Pedregosa et al. JMLR 12, 2825–2830, 2011. scikit-learn.org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3493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GitHub Repository: github.com/SreeHarshitha-12/plant_disease_detection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768596"/>
            <a:ext cx="9144000" cy="374904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1BC31A9B-FE23-E5F5-FB67-DB8374C5BA7E}"/>
              </a:ext>
            </a:extLst>
          </p:cNvPr>
          <p:cNvSpPr/>
          <p:nvPr/>
        </p:nvSpPr>
        <p:spPr>
          <a:xfrm>
            <a:off x="365760" y="4846320"/>
            <a:ext cx="7772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Plant Disease Prediction  |  P. Sree Harshitha (2306341)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3200400" cy="109728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0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2331720"/>
            <a:ext cx="9144000" cy="2811780"/>
          </a:xfrm>
          <a:prstGeom prst="rect">
            <a:avLst/>
          </a:prstGeom>
          <a:solidFill>
            <a:srgbClr val="3D0A25"/>
          </a:solidFill>
          <a:ln w="12700">
            <a:solidFill>
              <a:srgbClr val="3D0A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P.Sree</a:t>
            </a:r>
            <a:r>
              <a:rPr lang="en-US" sz="11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Harshitha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Kalinga Institute of Industrial Technology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3FC6E178-09EC-1D07-FA32-8027AE9B85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7662" y="2583180"/>
            <a:ext cx="2281618" cy="1691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1902</Words>
  <Application>Microsoft Office PowerPoint</Application>
  <PresentationFormat>On-screen Show (16:9)</PresentationFormat>
  <Paragraphs>298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 Prediction - KIIT Mini Project 2026</dc:title>
  <dc:subject>PptxGenJS Presentation</dc:subject>
  <dc:creator>PptxGenJS</dc:creator>
  <cp:lastModifiedBy>Harsha Vardhan Gandepalli</cp:lastModifiedBy>
  <cp:revision>2</cp:revision>
  <dcterms:created xsi:type="dcterms:W3CDTF">2026-03-17T03:31:10Z</dcterms:created>
  <dcterms:modified xsi:type="dcterms:W3CDTF">2026-03-19T15:57:48Z</dcterms:modified>
</cp:coreProperties>
</file>